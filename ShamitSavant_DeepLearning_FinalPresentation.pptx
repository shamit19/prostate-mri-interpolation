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5FB44B-F325-4D3E-B073-4262CFC31B91}">
  <a:tblStyle styleId="{D95FB44B-F325-4D3E-B073-4262CFC31B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aef62e00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baef62e00_1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aef62e0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baef62e00_1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baef62e00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baef62e00_1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aef62e00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abaef62e00_1_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aef62e00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baef62e00_1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aef62e00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baef62e00_1_1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baef62e00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baef62e00_1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baef62e00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baef62e00_1_1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aef62e00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baef62e00_1_1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ba2cbab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ba2cbab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457200" y="1889650"/>
            <a:ext cx="82296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MRI Slice Interpolation for Prostate Imaging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0" y="206550"/>
            <a:ext cx="496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EEL 6935: Deep Learning in Medical Image Analysis</a:t>
            </a:r>
            <a:endParaRPr sz="7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 Project Presentation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181400" y="206550"/>
            <a:ext cx="49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Shamit G. Savant</a:t>
            </a:r>
            <a:endParaRPr sz="800">
              <a:solidFill>
                <a:schemeClr val="lt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96800755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0" y="4527900"/>
            <a:ext cx="9144000" cy="615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Motivation</a:t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731520" y="1234440"/>
            <a:ext cx="7772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Challenge: Anisotropic MRI resolution</a:t>
            </a:r>
            <a:endParaRPr b="1" sz="1200"/>
          </a:p>
          <a:p>
            <a:pPr indent="0" lvl="1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In-plane: ~0.5mm  |  Through-plane: ~1.5mm</a:t>
            </a:r>
            <a:endParaRPr sz="12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Goal: Improve through-plane resolution</a:t>
            </a:r>
            <a:endParaRPr b="1" sz="1200"/>
          </a:p>
          <a:p>
            <a:pPr indent="0" lvl="1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1.5mm → 0.75mm spacing using deep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Clinical Impact:</a:t>
            </a:r>
            <a:endParaRPr b="1" sz="1200"/>
          </a:p>
          <a:p>
            <a:pPr indent="0" lvl="1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visualization for diagnosis &amp; treatment planning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Initial Approach:</a:t>
            </a:r>
            <a:endParaRPr b="1" sz="1200"/>
          </a:p>
          <a:p>
            <a:pPr indent="0" lvl="1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slices at i-2 and i+2 to predict middle slice i</a:t>
            </a:r>
            <a:endParaRPr sz="1200"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8100" y="1894550"/>
            <a:ext cx="2694050" cy="19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Infrastructure Challenges</a:t>
            </a:r>
            <a:endParaRPr/>
          </a:p>
        </p:txBody>
      </p:sp>
      <p:sp>
        <p:nvSpPr>
          <p:cNvPr id="148" name="Google Shape;148;p27"/>
          <p:cNvSpPr txBox="1"/>
          <p:nvPr/>
        </p:nvSpPr>
        <p:spPr>
          <a:xfrm>
            <a:off x="731520" y="1234440"/>
            <a:ext cx="77724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Dataset: UCLA Prostate MRI-US Biopsy</a:t>
            </a:r>
            <a:endParaRPr b="1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T2-weighted sequences, 3 Tesla Siemens scanners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~80 GB after preprocessing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Infrastructure Challenge:</a:t>
            </a:r>
            <a:endParaRPr b="1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</a:t>
            </a: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upload: extremely slow (days)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Globus transfer - efficient for large datasets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Processing Pipeline:</a:t>
            </a:r>
            <a:endParaRPr b="1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T2-weighted axial sequences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 normalization (1st-99th percentile)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Resize to 256×256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Final Dataset:</a:t>
            </a:r>
            <a:endParaRPr b="1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31,952 training samples  |  6,841 validation samples</a:t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100" y="1234450"/>
            <a:ext cx="3473700" cy="14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6200" y="2712596"/>
            <a:ext cx="2367500" cy="20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Approach: The Wall</a:t>
            </a:r>
            <a:endParaRPr/>
          </a:p>
        </p:txBody>
      </p:sp>
      <p:graphicFrame>
        <p:nvGraphicFramePr>
          <p:cNvPr id="157" name="Google Shape;157;p28"/>
          <p:cNvGraphicFramePr/>
          <p:nvPr/>
        </p:nvGraphicFramePr>
        <p:xfrm>
          <a:off x="9144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{D95FB44B-F325-4D3E-B073-4262CFC31B91}</a:tableStyleId>
              </a:tblPr>
              <a:tblGrid>
                <a:gridCol w="2438400"/>
                <a:gridCol w="2438400"/>
                <a:gridCol w="2438400"/>
              </a:tblGrid>
              <a:tr h="54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 u="none" cap="none" strike="noStrike">
                          <a:solidFill>
                            <a:srgbClr val="FFFFFF"/>
                          </a:solidFill>
                        </a:rPr>
                        <a:t>PSNR (dB)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 u="none" cap="none" strike="noStrike">
                          <a:solidFill>
                            <a:srgbClr val="FFFFFF"/>
                          </a:solidFill>
                        </a:rPr>
                        <a:t>SSIM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003366"/>
                    </a:solidFill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CNN (EDSR)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~21.8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~0.56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U-Net</a:t>
                      </a:r>
                      <a:endParaRPr sz="18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~22.1</a:t>
                      </a:r>
                      <a:endParaRPr sz="18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~0.57</a:t>
                      </a:r>
                      <a:endParaRPr sz="1800"/>
                    </a:p>
                  </a:txBody>
                  <a:tcPr marT="34300" marB="34300" marR="91450" marL="91450" anchor="ctr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GAN (Basic)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~21.5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~0.54</a:t>
                      </a:r>
                      <a:endParaRPr sz="18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GAN (Improved)</a:t>
                      </a:r>
                      <a:endParaRPr sz="18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~21.3</a:t>
                      </a:r>
                      <a:endParaRPr sz="18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~0.55</a:t>
                      </a:r>
                      <a:endParaRPr sz="1800"/>
                    </a:p>
                  </a:txBody>
                  <a:tcPr marT="34300" marB="34300" marR="91450" marL="91450" anchor="ctr"/>
                </a:tc>
              </a:tr>
            </a:tbl>
          </a:graphicData>
        </a:graphic>
      </p:graphicFrame>
      <p:sp>
        <p:nvSpPr>
          <p:cNvPr id="158" name="Google Shape;158;p28"/>
          <p:cNvSpPr txBox="1"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Using i-2 and i+2 slices → Results plateaued regardless of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Pivotal Realization</a:t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731520" y="1234440"/>
            <a:ext cx="7772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All architectures plateaued at similar performance</a:t>
            </a:r>
            <a:endParaRPr b="1" sz="1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Model complexity wasn't the bottleneck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Real Problem:</a:t>
            </a:r>
            <a:endParaRPr b="1" sz="1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Predicting slice i from i-2 and i+2</a:t>
            </a:r>
            <a:endParaRPr sz="1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Skipping 4 slices of anatomical information</a:t>
            </a:r>
            <a:endParaRPr sz="1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Bridging a 6mm gap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Prostate anatomy changes significantly across 1.5mm</a:t>
            </a:r>
            <a:endParaRPr b="1" sz="1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was fundamentally too difficult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3-Line Code Change:</a:t>
            </a:r>
            <a:endParaRPr b="1" sz="1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Changed from (i-2, i+2) to (i-1, i+1)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interpolating across 1.5mm gap with anatomical continuity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After Pivot - Quantitative Metrics</a:t>
            </a:r>
            <a:endParaRPr/>
          </a:p>
        </p:txBody>
      </p:sp>
      <p:graphicFrame>
        <p:nvGraphicFramePr>
          <p:cNvPr id="172" name="Google Shape;172;p30"/>
          <p:cNvGraphicFramePr/>
          <p:nvPr/>
        </p:nvGraphicFramePr>
        <p:xfrm>
          <a:off x="573350" y="136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{D95FB44B-F325-4D3E-B073-4262CFC31B91}</a:tableStyleId>
              </a:tblPr>
              <a:tblGrid>
                <a:gridCol w="1999325"/>
                <a:gridCol w="1999325"/>
                <a:gridCol w="1999325"/>
                <a:gridCol w="1999325"/>
              </a:tblGrid>
              <a:tr h="4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 u="none" cap="none" strike="noStrike">
                          <a:solidFill>
                            <a:srgbClr val="FFFFFF"/>
                          </a:solidFill>
                        </a:rPr>
                        <a:t>PSNR (dB)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 u="none" cap="none" strike="noStrike">
                          <a:solidFill>
                            <a:srgbClr val="FFFFFF"/>
                          </a:solidFill>
                        </a:rPr>
                        <a:t>SSIM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 u="none" cap="none" strike="noStrike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003366"/>
                    </a:solidFill>
                  </a:tcPr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Linear Baseline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27.31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0.838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—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Nearest Neighbor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22.25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0.686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(worse)</a:t>
                      </a:r>
                      <a:endParaRPr sz="1600"/>
                    </a:p>
                  </a:txBody>
                  <a:tcPr marT="34300" marB="34300" marR="91450" marL="91450" anchor="ctr"/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CNN (EDSR)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29.89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0.894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+9.5% / +6.6%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U-Net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30.08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0.898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+10.1% / +7.1%</a:t>
                      </a:r>
                      <a:endParaRPr sz="1600"/>
                    </a:p>
                  </a:txBody>
                  <a:tcPr marT="34300" marB="34300" marR="91450" marL="91450" anchor="ctr"/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GAN (Basic)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29.83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0.893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+9.3% / +6.6%</a:t>
                      </a:r>
                      <a:endParaRPr sz="1600"/>
                    </a:p>
                  </a:txBody>
                  <a:tcPr marT="34300" marB="34300" marR="91450" marL="91450" anchor="ctr">
                    <a:solidFill>
                      <a:srgbClr val="F0F8FF"/>
                    </a:solidFill>
                  </a:tcPr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GAN (Improved)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29.67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0.892</a:t>
                      </a:r>
                      <a:endParaRPr sz="1600"/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+8.7% / +6.4%</a:t>
                      </a:r>
                      <a:endParaRPr sz="1600"/>
                    </a:p>
                  </a:txBody>
                  <a:tcPr marT="34300" marB="34300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Qualitative Comparison</a:t>
            </a:r>
            <a:endParaRPr/>
          </a:p>
        </p:txBody>
      </p:sp>
      <p:sp>
        <p:nvSpPr>
          <p:cNvPr id="179" name="Google Shape;179;p31"/>
          <p:cNvSpPr txBox="1"/>
          <p:nvPr/>
        </p:nvSpPr>
        <p:spPr>
          <a:xfrm>
            <a:off x="325450" y="1045600"/>
            <a:ext cx="3294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comparison shows:</a:t>
            </a:r>
            <a:endParaRPr b="1" sz="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Linear/Nearest Neighbor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Blurry or blocky artifacts</a:t>
            </a:r>
            <a:endParaRPr sz="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Deep Learning Methods:</a:t>
            </a:r>
            <a:endParaRPr b="1" sz="5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 sharp anatomical boundaries</a:t>
            </a:r>
            <a:endParaRPr sz="5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fine structural details</a:t>
            </a:r>
            <a:endParaRPr sz="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U-Net Performance:</a:t>
            </a:r>
            <a:endParaRPr b="1" sz="5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preservation of tissue boundaries</a:t>
            </a:r>
            <a:endParaRPr sz="5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Smooth, realistic appearance</a:t>
            </a:r>
            <a:endParaRPr sz="5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Leverages skip connections effectively</a:t>
            </a:r>
            <a:endParaRPr sz="1100"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6050" y="1045850"/>
            <a:ext cx="1614376" cy="176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6050" y="3030476"/>
            <a:ext cx="1614375" cy="17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2867" y="3030475"/>
            <a:ext cx="1553183" cy="17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8500" y="3030475"/>
            <a:ext cx="1614375" cy="178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67225" y="3029950"/>
            <a:ext cx="1553175" cy="1783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4750" y="3036550"/>
            <a:ext cx="1662475" cy="182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9301" y="1260467"/>
            <a:ext cx="1553174" cy="154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/>
          <p:cNvPicPr preferRelativeResize="0"/>
          <p:nvPr/>
        </p:nvPicPr>
        <p:blipFill rotWithShape="1">
          <a:blip r:embed="rId10">
            <a:alphaModFix/>
          </a:blip>
          <a:srcRect b="0" l="0" r="0" t="13337"/>
          <a:stretch/>
        </p:blipFill>
        <p:spPr>
          <a:xfrm>
            <a:off x="3552900" y="1282099"/>
            <a:ext cx="1574882" cy="150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5745075" y="1045600"/>
            <a:ext cx="41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3964188" y="1045850"/>
            <a:ext cx="410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Nearest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Lessons Learned</a:t>
            </a:r>
            <a:endParaRPr/>
          </a:p>
        </p:txBody>
      </p:sp>
      <p:sp>
        <p:nvSpPr>
          <p:cNvPr id="196" name="Google Shape;196;p32"/>
          <p:cNvSpPr txBox="1"/>
          <p:nvPr/>
        </p:nvSpPr>
        <p:spPr>
          <a:xfrm>
            <a:off x="731520" y="1234440"/>
            <a:ext cx="7772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Problem Formulation &gt; Model Complexity</a:t>
            </a:r>
            <a:endParaRPr b="1" sz="18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Well-defined problem + simple model</a:t>
            </a:r>
            <a:endParaRPr sz="18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beats</a:t>
            </a:r>
            <a:endParaRPr sz="18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Poorly-defined problem + complex model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Systematic Experimentation Reveals Bottlenecks</a:t>
            </a:r>
            <a:endParaRPr b="1" sz="18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multiple architectures wasn't wasted effort</a:t>
            </a:r>
            <a:endParaRPr sz="18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ceiling pointed to problem formulation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Infrastructure Matters for Research at Scale</a:t>
            </a:r>
            <a:endParaRPr b="1" sz="18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tools enable research (Globus, HiPerGator)</a:t>
            </a:r>
            <a:endParaRPr sz="18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 data management is crucial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03" name="Google Shape;203;p33"/>
          <p:cNvSpPr txBox="1"/>
          <p:nvPr/>
        </p:nvSpPr>
        <p:spPr>
          <a:xfrm>
            <a:off x="1371600" y="1371600"/>
            <a:ext cx="64008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Successfully developed deep learning pipeline for MRI interpolation</a:t>
            </a:r>
            <a:endParaRPr sz="1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U-Net achieved 30.08 dB PSNR, 0.898 SSIM</a:t>
            </a:r>
            <a:endParaRPr sz="1000"/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(+10% improvement over linear baseline)</a:t>
            </a:r>
            <a:endParaRPr sz="1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Confirmed U-Net as gold standard for medical imaging</a:t>
            </a:r>
            <a:endParaRPr sz="1000"/>
          </a:p>
        </p:txBody>
      </p:sp>
      <p:sp>
        <p:nvSpPr>
          <p:cNvPr id="204" name="Google Shape;204;p33"/>
          <p:cNvSpPr txBox="1"/>
          <p:nvPr/>
        </p:nvSpPr>
        <p:spPr>
          <a:xfrm>
            <a:off x="914400" y="3429000"/>
            <a:ext cx="7315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Sometimes the biggest breakthrough isn't a fancier model—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it's asking the right question.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2355000" y="1863750"/>
            <a:ext cx="4434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 Questions?</a:t>
            </a:r>
            <a:endParaRPr b="1" sz="4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